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embeddedFontLst>
    <p:embeddedFont>
      <p:font typeface="Nunito"/>
      <p:regular r:id="rId9"/>
      <p:bold r:id="rId10"/>
      <p:italic r:id="rId11"/>
      <p:boldItalic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font" Target="fonts/Nunito-italic.fntdata"/><Relationship Id="rId10" Type="http://schemas.openxmlformats.org/officeDocument/2006/relationships/font" Target="fonts/Nunito-bold.fntdata"/><Relationship Id="rId12" Type="http://schemas.openxmlformats.org/officeDocument/2006/relationships/font" Target="fonts/Nunito-boldItalic.fntdata"/><Relationship Id="rId9" Type="http://schemas.openxmlformats.org/officeDocument/2006/relationships/font" Target="fonts/Nunit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a8bc825d2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a8bc825d2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a8bc825d23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a8bc825d23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i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i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3" title="ltapsah-sauna-raft-6809986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268925"/>
            <a:ext cx="9144003" cy="5412426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3"/>
          <p:cNvSpPr/>
          <p:nvPr/>
        </p:nvSpPr>
        <p:spPr>
          <a:xfrm>
            <a:off x="727600" y="1721275"/>
            <a:ext cx="7813800" cy="1797300"/>
          </a:xfrm>
          <a:prstGeom prst="rect">
            <a:avLst/>
          </a:prstGeom>
          <a:solidFill>
            <a:srgbClr val="EEEEEE">
              <a:alpha val="677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3"/>
          <p:cNvSpPr txBox="1"/>
          <p:nvPr>
            <p:ph type="ctrTitle"/>
          </p:nvPr>
        </p:nvSpPr>
        <p:spPr>
          <a:xfrm>
            <a:off x="311700" y="1645250"/>
            <a:ext cx="8520600" cy="138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i"/>
              <a:t>Your First Neural Network</a:t>
            </a:r>
            <a:endParaRPr/>
          </a:p>
        </p:txBody>
      </p:sp>
      <p:sp>
        <p:nvSpPr>
          <p:cNvPr id="131" name="Google Shape;131;p13"/>
          <p:cNvSpPr txBox="1"/>
          <p:nvPr>
            <p:ph idx="1" type="subTitle"/>
          </p:nvPr>
        </p:nvSpPr>
        <p:spPr>
          <a:xfrm>
            <a:off x="1923850" y="275070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i">
                <a:solidFill>
                  <a:srgbClr val="434343"/>
                </a:solidFill>
              </a:rPr>
              <a:t>Sauna Satisfaction Predictor</a:t>
            </a:r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4"/>
          <p:cNvSpPr txBox="1"/>
          <p:nvPr>
            <p:ph type="title"/>
          </p:nvPr>
        </p:nvSpPr>
        <p:spPr>
          <a:xfrm>
            <a:off x="344275" y="378625"/>
            <a:ext cx="5949000" cy="9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i"/>
              <a:t>In a Nutshell</a:t>
            </a:r>
            <a:endParaRPr/>
          </a:p>
        </p:txBody>
      </p:sp>
      <p:sp>
        <p:nvSpPr>
          <p:cNvPr id="137" name="Google Shape;137;p14"/>
          <p:cNvSpPr txBox="1"/>
          <p:nvPr>
            <p:ph idx="1" type="body"/>
          </p:nvPr>
        </p:nvSpPr>
        <p:spPr>
          <a:xfrm>
            <a:off x="311700" y="1152475"/>
            <a:ext cx="5308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i"/>
              <a:t>In an alternate universe, the Geological Survey of Finland maintains </a:t>
            </a:r>
            <a:r>
              <a:rPr lang="fi"/>
              <a:t>sauna visitor logs</a:t>
            </a:r>
            <a:r>
              <a:rPr lang="fi"/>
              <a:t>. For each visit, three inputs are recorded: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b="1" lang="fi"/>
              <a:t>Sauna temperature</a:t>
            </a:r>
            <a:r>
              <a:rPr lang="fi"/>
              <a:t> (°C)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b="1" lang="fi"/>
              <a:t>Outside temperature</a:t>
            </a:r>
            <a:r>
              <a:rPr lang="fi"/>
              <a:t> (°C)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b="1" lang="fi"/>
              <a:t>Minutes since last coffee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i"/>
              <a:t>After the visit, the visitor gives a </a:t>
            </a:r>
            <a:r>
              <a:rPr b="1" lang="fi"/>
              <a:t>Satisfaction Score</a:t>
            </a:r>
            <a:r>
              <a:rPr lang="fi"/>
              <a:t> between 0 and 1. We will train a small neural network to predict what the score will be based on these inputs.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8" name="Google Shape;138;p14" title="pexels-huum-sauna-heaters-718199222-18285439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15832" y="-3"/>
            <a:ext cx="3428167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5" title="saunadiagr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6750" y="563775"/>
            <a:ext cx="7271800" cy="380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5"/>
          <p:cNvSpPr txBox="1"/>
          <p:nvPr>
            <p:ph type="title"/>
          </p:nvPr>
        </p:nvSpPr>
        <p:spPr>
          <a:xfrm>
            <a:off x="498775" y="43292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i"/>
              <a:t>Workflow</a:t>
            </a:r>
            <a:endParaRPr/>
          </a:p>
        </p:txBody>
      </p:sp>
      <p:sp>
        <p:nvSpPr>
          <p:cNvPr id="145" name="Google Shape;145;p15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