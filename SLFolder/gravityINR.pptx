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892b0321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892b0321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892b0321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892b0321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892b0321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892b0321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92b0321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92b0321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892b0321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892b0321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062ed1d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4062ed1d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8bcd971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8bcd971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4062ed1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4062ed1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4f4724ce0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4f4724ce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pdf/2510.17876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61350" y="554425"/>
            <a:ext cx="8520600" cy="25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i" sz="2580">
                <a:solidFill>
                  <a:schemeClr val="dk1"/>
                </a:solidFill>
              </a:rPr>
              <a:t>Three-dimensional inversion of gravity data using implicit neural representations and scientific machine learning</a:t>
            </a:r>
            <a:endParaRPr sz="258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402725" y="308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i" sz="2292">
                <a:solidFill>
                  <a:schemeClr val="dk1"/>
                </a:solidFill>
              </a:rPr>
              <a:t>Sanni Laaksonen</a:t>
            </a:r>
            <a:endParaRPr sz="22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 sz="2008">
                <a:solidFill>
                  <a:schemeClr val="dk1"/>
                </a:solidFill>
              </a:rPr>
              <a:t>In collaboration with </a:t>
            </a:r>
            <a:r>
              <a:rPr lang="fi" sz="2008">
                <a:solidFill>
                  <a:schemeClr val="dk1"/>
                </a:solidFill>
              </a:rPr>
              <a:t>Pankaj K Mishra, Jochen Kamm, Anad Singh</a:t>
            </a:r>
            <a:endParaRPr sz="200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The Inverse Problem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Gravity surveys measure surface variations in Earth's gravitational field, resulting from subsurface density variations.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The inversion is </a:t>
            </a:r>
            <a:r>
              <a:rPr b="1" lang="fi"/>
              <a:t>ill-posed</a:t>
            </a:r>
            <a:r>
              <a:rPr lang="fi"/>
              <a:t>: many different density distributions can produce the same surface measurements.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Conventional voxel-based methods face several challenges: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Grid cells rarely align with real geological boundaries &gt; geometric artefacts.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Gravity signal sensitivity decays with depth &gt; estimated density concentrates near the surface.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Refining the model grid increases the number of unknowns &gt; explosive parameter growth.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Why Choose Implicit Neural Representations?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The INR encodes the density as a continuous function, evaluated at any coordinate.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Geological boundaries can fall outside grid edges.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i"/>
              <a:t>Structures emerge where the physics demand them, without explicit depth-weighting or pre-computed training examples.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Implicit regulariser: shared weights, limited capacity, and early stopping favour geologically plausible solutions without manual tuning of smoothness penalties.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i"/>
              <a:t>The number of unknowns is determined by network size &gt; increasing grid cell count not tied to parameter growth.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Screenshot from 2026-05-21 13-07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4500" y="506500"/>
            <a:ext cx="5840423" cy="4130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31000"/>
            <a:ext cx="8520600" cy="5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Architecture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182050" y="1011325"/>
            <a:ext cx="2973000" cy="36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083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fi" sz="1295"/>
              <a:t>Input: (x, y, z)</a:t>
            </a:r>
            <a:r>
              <a:rPr lang="fi" sz="1295"/>
              <a:t> coordinates.</a:t>
            </a:r>
            <a:endParaRPr sz="1295"/>
          </a:p>
          <a:p>
            <a:pPr indent="-31083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fi" sz="1295"/>
              <a:t>+ Positional Encoding</a:t>
            </a:r>
            <a:r>
              <a:rPr lang="fi" sz="1295"/>
              <a:t>: Pass coordinates through sin/cos functions to represent sharp geological boundaries.</a:t>
            </a:r>
            <a:endParaRPr sz="1295"/>
          </a:p>
          <a:p>
            <a:pPr indent="-31083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fi" sz="1295"/>
              <a:t>MLP</a:t>
            </a:r>
            <a:r>
              <a:rPr lang="fi" sz="1295"/>
              <a:t> network with </a:t>
            </a:r>
            <a:r>
              <a:rPr b="1" lang="fi" sz="1295"/>
              <a:t>LeakyReLU</a:t>
            </a:r>
            <a:r>
              <a:rPr lang="fi" sz="1295"/>
              <a:t> (non-linearity for complex patterns) &amp; </a:t>
            </a:r>
            <a:r>
              <a:rPr b="1" lang="fi" sz="1295"/>
              <a:t>Tanh</a:t>
            </a:r>
            <a:r>
              <a:rPr lang="fi" sz="1295"/>
              <a:t> (squash the output to a plausible density range) activation.</a:t>
            </a:r>
            <a:endParaRPr sz="1295"/>
          </a:p>
          <a:p>
            <a:pPr indent="-31083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fi" sz="1295"/>
              <a:t>Loss</a:t>
            </a:r>
            <a:r>
              <a:rPr lang="fi" sz="1295"/>
              <a:t>: observed vs. predicted gravity</a:t>
            </a:r>
            <a:endParaRPr sz="1295"/>
          </a:p>
          <a:p>
            <a:pPr indent="-31083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b="1" lang="fi" sz="1295"/>
              <a:t>Output: </a:t>
            </a:r>
            <a:r>
              <a:rPr lang="fi" sz="1295"/>
              <a:t>Trained parameters 𝜃</a:t>
            </a:r>
            <a:r>
              <a:rPr baseline="30000" lang="fi" sz="1295"/>
              <a:t>★</a:t>
            </a:r>
            <a:r>
              <a:rPr lang="fi" sz="1295"/>
              <a:t>; density contrast 𝜌</a:t>
            </a:r>
            <a:r>
              <a:rPr baseline="-25000" lang="fi" sz="1295"/>
              <a:t>𝜃★</a:t>
            </a:r>
            <a:r>
              <a:rPr lang="fi" sz="1295"/>
              <a:t>; predicted gravity 𝑔</a:t>
            </a:r>
            <a:r>
              <a:rPr baseline="-25000" lang="fi" sz="1295"/>
              <a:t>pred</a:t>
            </a:r>
            <a:endParaRPr sz="129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True &amp; Predicted Model Comparison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 title="Screenshot from 2026-05-21 13-17-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871" y="1069725"/>
            <a:ext cx="6390453" cy="38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Encoding Comparisons &amp; Spectral Bias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 title="Screenshot from 2026-05-22 15-12-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700" y="970850"/>
            <a:ext cx="8600599" cy="39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Network Capacity Comparison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 title="Screenshot from 2026-05-22 15-30-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75" y="1021350"/>
            <a:ext cx="8472449" cy="367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Grid Refinement Comparison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 title="Screenshot from 2026-05-27 11-19-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150" y="1081025"/>
            <a:ext cx="8173926" cy="373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Implicit vs. Popular Explicit Regularisation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 title="Screenshot from 2026-05-22 16-37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750" y="930050"/>
            <a:ext cx="7722499" cy="386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Thank you!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i"/>
              <a:t>Further technical details, potential limitations and future work can be found in the </a:t>
            </a:r>
            <a:r>
              <a:rPr lang="fi"/>
              <a:t>paper</a:t>
            </a:r>
            <a:r>
              <a:rPr lang="fi"/>
              <a:t> published open-access in Scientific Reports: </a:t>
            </a:r>
            <a:r>
              <a:rPr lang="fi" u="sng">
                <a:solidFill>
                  <a:schemeClr val="hlink"/>
                </a:solidFill>
                <a:hlinkClick r:id="rId3"/>
              </a:rPr>
              <a:t>https://arxiv.org/pdf/2510.17876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 title="Screenshot from 2026-05-28 15-10-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925" y="2302300"/>
            <a:ext cx="8552126" cy="20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